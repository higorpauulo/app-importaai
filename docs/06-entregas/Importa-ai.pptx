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72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0" r:id="rId15"/>
    <p:sldId id="269" r:id="rId16"/>
  </p:sldIdLst>
  <p:sldSz cx="12192000" cy="6858000"/>
  <p:notesSz cx="6858000" cy="12192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Fira Sans" panose="020B0503050000020004" pitchFamily="34" charset="0"/>
      <p:regular r:id="rId22"/>
      <p:bold r:id="rId23"/>
      <p:italic r:id="rId24"/>
      <p:boldItalic r:id="rId25"/>
    </p:embeddedFont>
    <p:embeddedFont>
      <p:font typeface="Fira Sans Bold" panose="020B0803050000020004" charset="0"/>
      <p:regular r:id="rId26"/>
    </p:embeddedFont>
    <p:embeddedFont>
      <p:font typeface="Fira Sans Medium" panose="020B0603050000020004" pitchFamily="34" charset="0"/>
      <p:regular r:id="rId27"/>
      <p:italic r:id="rId28"/>
    </p:embeddedFont>
    <p:embeddedFont>
      <p:font typeface="Fira Sans SemiBold" panose="020B0603050000020004" pitchFamily="34" charset="0"/>
      <p:regular r:id="rId29"/>
      <p:bold r:id="rId30"/>
      <p:boldItalic r:id="rId31"/>
    </p:embeddedFont>
    <p:embeddedFont>
      <p:font typeface="Mona Sans Bold" panose="020B0604020202020204" charset="0"/>
      <p:regular r:id="rId32"/>
    </p:embeddedFont>
    <p:embeddedFont>
      <p:font typeface="Mona Sans SemiBold" panose="020B0604020202020204" charset="0"/>
      <p:regular r:id="rId3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D8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21" Type="http://schemas.openxmlformats.org/officeDocument/2006/relationships/font" Target="fonts/font4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1188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6910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7212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4820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75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hyperlink" Target="https://gamma.app/?utm_source=made-with-gamma" TargetMode="Externa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B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>
              <a:alpha val="48000"/>
            </a:srgbClr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Image 2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B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BE1C3B1C-B3B9-4F32-A3DF-2802A76022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ext 0"/>
          <p:cNvSpPr/>
          <p:nvPr/>
        </p:nvSpPr>
        <p:spPr>
          <a:xfrm>
            <a:off x="609585" y="4892675"/>
            <a:ext cx="9143771" cy="896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7200" b="1" kern="0" spc="-216" dirty="0">
                <a:solidFill>
                  <a:srgbClr val="0070C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Importa aí</a:t>
            </a:r>
            <a:endParaRPr lang="en-US" sz="7200" dirty="0">
              <a:solidFill>
                <a:srgbClr val="0070C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09585" y="6042720"/>
            <a:ext cx="1158211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0070C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Uma plataforma móvel para organizar e acompanhar compras internacionais em um só lugar.</a:t>
            </a:r>
            <a:endParaRPr lang="en-US" sz="1200" dirty="0">
              <a:solidFill>
                <a:srgbClr val="0070C0"/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D92FA6C-97B7-4F77-9079-82EB009769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1412" y="0"/>
            <a:ext cx="4518212" cy="45182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643119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24" dirty="0">
                <a:solidFill>
                  <a:srgbClr val="5B616B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O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09241"/>
            <a:ext cx="5821614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200" kern="0" spc="-64" dirty="0">
                <a:solidFill>
                  <a:srgbClr val="0F1115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Uma compra. Uma visão.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589881"/>
            <a:ext cx="5821614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sz="1600" b="1" dirty="0"/>
              <a:t> Plataforma única para o importador</a:t>
            </a:r>
            <a:r>
              <a:rPr lang="pt-BR" sz="1600" dirty="0"/>
              <a:t>, sem depender de vários aplicativos terceiros.</a:t>
            </a:r>
          </a:p>
        </p:txBody>
      </p:sp>
      <p:sp>
        <p:nvSpPr>
          <p:cNvPr id="5" name="Shape 3"/>
          <p:cNvSpPr/>
          <p:nvPr/>
        </p:nvSpPr>
        <p:spPr>
          <a:xfrm>
            <a:off x="609585" y="2694781"/>
            <a:ext cx="1921125" cy="38100"/>
          </a:xfrm>
          <a:prstGeom prst="roundRect">
            <a:avLst>
              <a:gd name="adj" fmla="val 49999"/>
            </a:avLst>
          </a:prstGeom>
          <a:solidFill>
            <a:srgbClr val="0D6EFD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3009106"/>
            <a:ext cx="5821614" cy="3030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 algn="l">
              <a:lnSpc>
                <a:spcPct val="121000"/>
              </a:lnSpc>
              <a:buFontTx/>
              <a:buChar char="-"/>
            </a:pPr>
            <a:endParaRPr lang="en-US" sz="1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7873" y="0"/>
            <a:ext cx="4693822" cy="6858000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742831E1-8F28-4B27-9187-F7CC4010074D}"/>
              </a:ext>
            </a:extLst>
          </p:cNvPr>
          <p:cNvSpPr txBox="1"/>
          <p:nvPr/>
        </p:nvSpPr>
        <p:spPr>
          <a:xfrm>
            <a:off x="609585" y="3091952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sz="1600" b="1" dirty="0"/>
              <a:t> </a:t>
            </a:r>
            <a:r>
              <a:rPr lang="pt-BR" sz="1600" dirty="0"/>
              <a:t>Pacote como um registro completo e personalizável, não apenas um código.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 Nome, conteúdo, loja, valor, moeda, cotação, linha do tempo e estado.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 Visão consolidada de várias compras.</a:t>
            </a:r>
          </a:p>
          <a:p>
            <a:endParaRPr lang="pt-BR" sz="1600" dirty="0"/>
          </a:p>
          <a:p>
            <a:pPr>
              <a:buFont typeface="Arial" panose="020B0604020202020204" pitchFamily="34" charset="0"/>
              <a:buChar char="•"/>
            </a:pPr>
            <a:endParaRPr lang="pt-BR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643119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24" dirty="0">
                <a:solidFill>
                  <a:srgbClr val="5B616B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PÚBLICO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09241"/>
            <a:ext cx="5821614" cy="853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200" kern="0" spc="-64" dirty="0">
                <a:solidFill>
                  <a:srgbClr val="0F1115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Para quem tem várias compras em trânsito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016522"/>
            <a:ext cx="5821614" cy="1235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262A31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Para pessoas que precisam organizar o acervo e acompanhar cada pedido com mais </a:t>
            </a:r>
            <a:r>
              <a:rPr lang="en-US" sz="1500" dirty="0" err="1">
                <a:solidFill>
                  <a:srgbClr val="262A31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contexto</a:t>
            </a:r>
            <a:r>
              <a:rPr lang="en-US" sz="1500" dirty="0">
                <a:solidFill>
                  <a:srgbClr val="262A31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</a:t>
            </a:r>
          </a:p>
          <a:p>
            <a:pPr marL="0" indent="0" algn="l">
              <a:lnSpc>
                <a:spcPct val="121000"/>
              </a:lnSpc>
              <a:buNone/>
            </a:pPr>
            <a:endParaRPr lang="en-US" sz="1500" dirty="0"/>
          </a:p>
          <a:p>
            <a:pPr>
              <a:lnSpc>
                <a:spcPct val="121000"/>
              </a:lnSpc>
            </a:pPr>
            <a:r>
              <a:rPr lang="pt-BR" sz="1600" dirty="0"/>
              <a:t>Antes da Importa aí: </a:t>
            </a:r>
            <a:r>
              <a:rPr lang="pt-BR" sz="1600" b="1" dirty="0"/>
              <a:t>CN156903567CN - EVENTOS</a:t>
            </a:r>
          </a:p>
          <a:p>
            <a:pPr marL="0" indent="0" algn="l">
              <a:lnSpc>
                <a:spcPct val="121000"/>
              </a:lnSpc>
              <a:buNone/>
            </a:pPr>
            <a:endParaRPr lang="en-US" sz="1500" dirty="0"/>
          </a:p>
          <a:p>
            <a:pPr marL="0" indent="0" algn="l">
              <a:lnSpc>
                <a:spcPct val="121000"/>
              </a:lnSpc>
              <a:buNone/>
            </a:pP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434" y="3480792"/>
            <a:ext cx="5821614" cy="1823641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6" name="Text 4"/>
          <p:cNvSpPr/>
          <p:nvPr/>
        </p:nvSpPr>
        <p:spPr>
          <a:xfrm>
            <a:off x="795028" y="3709392"/>
            <a:ext cx="559301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24" dirty="0">
                <a:solidFill>
                  <a:srgbClr val="262A31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EXEMPLO · CAMILA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5028" y="4009033"/>
            <a:ext cx="536442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262A31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“Fone Bluetooth”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95028" y="4523383"/>
            <a:ext cx="53644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262A31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Valor, eventos, cotação e estado em um só lugar — sem alternar entre serviços.</a:t>
            </a:r>
            <a:endParaRPr lang="en-US" sz="15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7873" y="0"/>
            <a:ext cx="46938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E0341F73-F9F8-406C-9B53-C8E71743F84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24" dirty="0">
                <a:solidFill>
                  <a:srgbClr val="5B616B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DOMÍNIO E ESCOPO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09241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200" kern="0" spc="-64" dirty="0">
                <a:solidFill>
                  <a:srgbClr val="0F1115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O projeto acompanha a compra; não executa a compra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5" y="1589881"/>
            <a:ext cx="3454314" cy="2099866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1818481"/>
            <a:ext cx="322571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24" dirty="0">
                <a:solidFill>
                  <a:srgbClr val="262A31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ENTIDADES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38179" y="2118122"/>
            <a:ext cx="299712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262A31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O que se relaciona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38179" y="2632472"/>
            <a:ext cx="29971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262A31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Usuário · compra · loja · evento de rastreio · cotação · notificação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68691" y="1589881"/>
            <a:ext cx="3454314" cy="2099866"/>
          </a:xfrm>
          <a:prstGeom prst="rect">
            <a:avLst/>
          </a:prstGeom>
          <a:solidFill>
            <a:srgbClr val="0D6EFD"/>
          </a:solidFill>
          <a:ln/>
        </p:spPr>
      </p:sp>
      <p:sp>
        <p:nvSpPr>
          <p:cNvPr id="9" name="Text 7"/>
          <p:cNvSpPr/>
          <p:nvPr/>
        </p:nvSpPr>
        <p:spPr>
          <a:xfrm>
            <a:off x="4597285" y="1818481"/>
            <a:ext cx="322571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24" dirty="0">
                <a:solidFill>
                  <a:srgbClr val="FFFFFF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DENTRO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97285" y="2118122"/>
            <a:ext cx="299712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O que o Importa cobre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97285" y="2632472"/>
            <a:ext cx="2997125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Cadastro · acompanhamento · alertas · indicadores · conversão monetária · administração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27797" y="1589881"/>
            <a:ext cx="3454314" cy="2099866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3" name="Text 11"/>
          <p:cNvSpPr/>
          <p:nvPr/>
        </p:nvSpPr>
        <p:spPr>
          <a:xfrm>
            <a:off x="8356391" y="1818481"/>
            <a:ext cx="322571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24" dirty="0">
                <a:solidFill>
                  <a:srgbClr val="262A31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FORA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56391" y="2118122"/>
            <a:ext cx="299712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262A31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O que não faz parte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56391" y="2632472"/>
            <a:ext cx="2997125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262A31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Pagamento · cálculo do imposto · conversa com vendedor · compartilhamento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4C8A1B55-635C-419A-864A-CF9609A69C4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ext 0"/>
          <p:cNvSpPr/>
          <p:nvPr/>
        </p:nvSpPr>
        <p:spPr>
          <a:xfrm>
            <a:off x="457189" y="457200"/>
            <a:ext cx="5406989" cy="188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23" dirty="0">
                <a:solidFill>
                  <a:srgbClr val="5B616B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STACK TÉCNICA · 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189" y="738485"/>
            <a:ext cx="4949800" cy="559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200" kern="0" spc="-84" dirty="0">
                <a:solidFill>
                  <a:srgbClr val="0F1115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Stack do Importa aí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189" y="1529260"/>
            <a:ext cx="4949800" cy="33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50" dirty="0" err="1">
                <a:solidFill>
                  <a:srgbClr val="262A31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Tecnologias</a:t>
            </a:r>
            <a:r>
              <a:rPr lang="en-US" sz="1450" dirty="0">
                <a:solidFill>
                  <a:srgbClr val="262A31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1450" dirty="0" err="1">
                <a:solidFill>
                  <a:srgbClr val="262A31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escolhidas</a:t>
            </a:r>
            <a:r>
              <a:rPr lang="en-US" sz="1450" dirty="0">
                <a:solidFill>
                  <a:srgbClr val="262A31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para o </a:t>
            </a:r>
            <a:r>
              <a:rPr lang="en-US" sz="1450" dirty="0" err="1">
                <a:solidFill>
                  <a:srgbClr val="262A31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projeto</a:t>
            </a:r>
            <a:r>
              <a:rPr lang="en-US" sz="1450" dirty="0">
                <a:solidFill>
                  <a:srgbClr val="262A31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189" y="1918495"/>
            <a:ext cx="4949800" cy="228153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Text 4"/>
          <p:cNvSpPr/>
          <p:nvPr/>
        </p:nvSpPr>
        <p:spPr>
          <a:xfrm>
            <a:off x="761981" y="2223295"/>
            <a:ext cx="4645008" cy="188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23" dirty="0">
                <a:solidFill>
                  <a:srgbClr val="262A31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MOBILE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61981" y="2504581"/>
            <a:ext cx="4340216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dirty="0">
                <a:solidFill>
                  <a:srgbClr val="262A31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Aplicativo multiplataforma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61981" y="2987081"/>
            <a:ext cx="4340216" cy="908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spcAft>
                <a:spcPts val="1050"/>
              </a:spcAft>
              <a:buNone/>
            </a:pPr>
            <a:r>
              <a:rPr lang="en-US" sz="1450" b="1" dirty="0">
                <a:solidFill>
                  <a:srgbClr val="262A31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React Native</a:t>
            </a:r>
            <a:r>
              <a:rPr lang="en-US" sz="1450" dirty="0">
                <a:solidFill>
                  <a:srgbClr val="262A31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com </a:t>
            </a:r>
            <a:r>
              <a:rPr lang="en-US" sz="1450" b="1" dirty="0">
                <a:solidFill>
                  <a:srgbClr val="262A31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Expo</a:t>
            </a:r>
            <a:r>
              <a:rPr lang="en-US" sz="1450" dirty="0">
                <a:solidFill>
                  <a:srgbClr val="262A31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e </a:t>
            </a:r>
            <a:r>
              <a:rPr lang="en-US" sz="1450" b="1" dirty="0">
                <a:solidFill>
                  <a:srgbClr val="262A31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TypeScript</a:t>
            </a:r>
            <a:endParaRPr lang="en-US" sz="14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262A31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SQLite</a:t>
            </a:r>
            <a:r>
              <a:rPr lang="en-US" sz="1450" dirty="0">
                <a:solidFill>
                  <a:srgbClr val="262A31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no aparelho para persistência local e uso com conectividade intermitente.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57189" y="4431210"/>
            <a:ext cx="4949800" cy="2024063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" name="Text 8"/>
          <p:cNvSpPr/>
          <p:nvPr/>
        </p:nvSpPr>
        <p:spPr>
          <a:xfrm>
            <a:off x="761981" y="4736010"/>
            <a:ext cx="4645008" cy="188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23" dirty="0">
                <a:solidFill>
                  <a:srgbClr val="262A31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BACKEND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61981" y="5017295"/>
            <a:ext cx="4340216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dirty="0">
                <a:solidFill>
                  <a:srgbClr val="262A31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API e dados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61981" y="5499795"/>
            <a:ext cx="4340216" cy="650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spcAft>
                <a:spcPts val="1050"/>
              </a:spcAft>
              <a:buNone/>
            </a:pPr>
            <a:r>
              <a:rPr lang="en-US" sz="1450" b="1" dirty="0">
                <a:solidFill>
                  <a:srgbClr val="262A31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Java 21</a:t>
            </a:r>
            <a:r>
              <a:rPr lang="en-US" sz="1450" dirty="0">
                <a:solidFill>
                  <a:srgbClr val="262A31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com </a:t>
            </a:r>
            <a:r>
              <a:rPr lang="en-US" sz="1450" b="1" dirty="0">
                <a:solidFill>
                  <a:srgbClr val="262A31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Spring Boot 4</a:t>
            </a:r>
            <a:r>
              <a:rPr lang="en-US" sz="1450" dirty="0">
                <a:solidFill>
                  <a:srgbClr val="262A31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e acesso via </a:t>
            </a:r>
            <a:r>
              <a:rPr lang="en-US" sz="1450" b="1" dirty="0">
                <a:solidFill>
                  <a:srgbClr val="262A31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JDBC</a:t>
            </a:r>
            <a:r>
              <a:rPr lang="en-US" sz="1450" dirty="0">
                <a:solidFill>
                  <a:srgbClr val="262A31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e </a:t>
            </a:r>
            <a:r>
              <a:rPr lang="en-US" sz="1450" b="1" dirty="0">
                <a:solidFill>
                  <a:srgbClr val="262A31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DAOs</a:t>
            </a:r>
            <a:endParaRPr lang="en-US" sz="14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262A31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PostgreSQL 18</a:t>
            </a:r>
            <a:r>
              <a:rPr lang="en-US" sz="1450" dirty="0">
                <a:solidFill>
                  <a:srgbClr val="262A31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como banco central da aplicação.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711782" y="0"/>
            <a:ext cx="6479914" cy="6858000"/>
          </a:xfrm>
          <a:prstGeom prst="rect">
            <a:avLst/>
          </a:prstGeom>
          <a:noFill/>
          <a:ln w="19050">
            <a:solidFill>
              <a:srgbClr val="B4BE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713" y="323850"/>
            <a:ext cx="5698982" cy="188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23" dirty="0">
                <a:solidFill>
                  <a:srgbClr val="5B616B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ARQUITETURA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92713" y="605135"/>
            <a:ext cx="5375141" cy="406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50" kern="0" spc="-61" dirty="0">
                <a:solidFill>
                  <a:srgbClr val="0F1115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Arquitetura em camadas</a:t>
            </a:r>
            <a:endParaRPr lang="en-US" sz="3050" dirty="0"/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1FEE1C48-D50B-4F26-B97D-DB5C910D1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261" y="1736353"/>
            <a:ext cx="5813703" cy="1759517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5689F48C-93AD-45F1-9879-E7D0083E27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7415" y="4022608"/>
            <a:ext cx="5787396" cy="19210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5A8265E4-2520-44B0-BD15-46DAB9C9D54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24" dirty="0">
                <a:solidFill>
                  <a:srgbClr val="5B616B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19 REQUISITOS FUNCIONAIS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09241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200" kern="0" spc="-64" dirty="0">
                <a:solidFill>
                  <a:srgbClr val="0F1115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Do </a:t>
            </a:r>
            <a:r>
              <a:rPr lang="en-US" sz="3200" kern="0" spc="-64" dirty="0" err="1">
                <a:solidFill>
                  <a:srgbClr val="0F1115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cadastro</a:t>
            </a:r>
            <a:r>
              <a:rPr lang="en-US" sz="3200" kern="0" spc="-64" dirty="0">
                <a:solidFill>
                  <a:srgbClr val="0F1115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</a:t>
            </a:r>
            <a:r>
              <a:rPr lang="en-US" sz="3200" kern="0" spc="-64" dirty="0" err="1">
                <a:solidFill>
                  <a:srgbClr val="0F1115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ao</a:t>
            </a:r>
            <a:r>
              <a:rPr lang="en-US" sz="3200" kern="0" spc="-64" dirty="0">
                <a:solidFill>
                  <a:srgbClr val="0F1115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</a:t>
            </a:r>
            <a:r>
              <a:rPr lang="en-US" sz="3200" kern="0" spc="-64" dirty="0" err="1">
                <a:solidFill>
                  <a:srgbClr val="0F1115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acompanhamento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920603"/>
            <a:ext cx="80246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2451F5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9585" y="3187303"/>
            <a:ext cx="2400240" cy="19050"/>
          </a:xfrm>
          <a:prstGeom prst="rect">
            <a:avLst/>
          </a:prstGeom>
          <a:solidFill>
            <a:srgbClr val="2451F5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3320653"/>
            <a:ext cx="240024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F1115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Conta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9585" y="3835003"/>
            <a:ext cx="240024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262A31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Criar conta, autenticar e manter dados do usuário.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67013" y="2920603"/>
            <a:ext cx="81535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2451F5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467013" y="3187303"/>
            <a:ext cx="2400240" cy="19050"/>
          </a:xfrm>
          <a:prstGeom prst="rect">
            <a:avLst/>
          </a:prstGeom>
          <a:solidFill>
            <a:srgbClr val="2451F5"/>
          </a:solidFill>
          <a:ln/>
        </p:spPr>
      </p:sp>
      <p:sp>
        <p:nvSpPr>
          <p:cNvPr id="10" name="Text 8"/>
          <p:cNvSpPr/>
          <p:nvPr/>
        </p:nvSpPr>
        <p:spPr>
          <a:xfrm>
            <a:off x="3467013" y="3320653"/>
            <a:ext cx="240024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F1115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Acervo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67013" y="3835003"/>
            <a:ext cx="240024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262A31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Cadastrar, editar, arquivar e consultar compras e lojas.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24442" y="2920603"/>
            <a:ext cx="81615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2451F5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24442" y="3187303"/>
            <a:ext cx="2400240" cy="19050"/>
          </a:xfrm>
          <a:prstGeom prst="rect">
            <a:avLst/>
          </a:prstGeom>
          <a:solidFill>
            <a:srgbClr val="2451F5"/>
          </a:solidFill>
          <a:ln/>
        </p:spPr>
      </p:sp>
      <p:sp>
        <p:nvSpPr>
          <p:cNvPr id="14" name="Text 12"/>
          <p:cNvSpPr/>
          <p:nvPr/>
        </p:nvSpPr>
        <p:spPr>
          <a:xfrm>
            <a:off x="6324442" y="3320653"/>
            <a:ext cx="240024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F1115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Rastreio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24442" y="3835003"/>
            <a:ext cx="2400240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262A31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Importar eventos, filtrar por estado, mostrar linha do tempo e emitir alertas.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81870" y="2920603"/>
            <a:ext cx="82607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2451F5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181870" y="3187303"/>
            <a:ext cx="2400240" cy="19050"/>
          </a:xfrm>
          <a:prstGeom prst="rect">
            <a:avLst/>
          </a:prstGeom>
          <a:solidFill>
            <a:srgbClr val="2451F5"/>
          </a:solidFill>
          <a:ln/>
        </p:spPr>
      </p:sp>
      <p:sp>
        <p:nvSpPr>
          <p:cNvPr id="18" name="Text 16"/>
          <p:cNvSpPr/>
          <p:nvPr/>
        </p:nvSpPr>
        <p:spPr>
          <a:xfrm>
            <a:off x="9181870" y="3320653"/>
            <a:ext cx="240024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F1115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Visão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181870" y="3835003"/>
            <a:ext cx="2400240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262A31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Exibir indicadores, valor convertido e histórico de notificações.</a:t>
            </a:r>
            <a:endParaRPr lang="en-US" sz="1500" dirty="0"/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3E83E497-3186-4393-A803-700F821BE666}"/>
              </a:ext>
            </a:extLst>
          </p:cNvPr>
          <p:cNvSpPr/>
          <p:nvPr/>
        </p:nvSpPr>
        <p:spPr>
          <a:xfrm>
            <a:off x="609585" y="1450182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pt-BR" sz="1200" kern="0" spc="24" dirty="0">
                <a:solidFill>
                  <a:srgbClr val="5B616B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As funções descrevem o que o sistema precisa fazer para acompanhar compras internacionais.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527C36E6-F58B-4C9C-8447-B78ECC646D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24" dirty="0">
                <a:solidFill>
                  <a:srgbClr val="5B616B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10 REQUISITOS NÃO FUNCIONAIS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09241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200" kern="0" spc="-64" dirty="0">
                <a:solidFill>
                  <a:srgbClr val="0F1115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Qualidades que orientam a especificação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4" y="2118122"/>
            <a:ext cx="5333867" cy="1823641"/>
          </a:xfrm>
          <a:prstGeom prst="roundRect">
            <a:avLst>
              <a:gd name="adj" fmla="val 1567"/>
            </a:avLst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838178" y="2346722"/>
            <a:ext cx="510527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24" dirty="0">
                <a:solidFill>
                  <a:srgbClr val="262A31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DISPONIBILIDADE · DESEMPENHO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38178" y="2646363"/>
            <a:ext cx="487667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262A31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Offline primeiro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38178" y="3081734"/>
            <a:ext cx="5105272" cy="694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pt-BR" sz="1600" dirty="0"/>
              <a:t>Consultar dados sem conexão, sincronizar ao reconectar</a:t>
            </a:r>
          </a:p>
          <a:p>
            <a:r>
              <a:rPr lang="pt-BR" sz="1600" dirty="0"/>
              <a:t>e listar dados locais em até 2 segundos em aparelho </a:t>
            </a:r>
          </a:p>
          <a:p>
            <a:r>
              <a:rPr lang="pt-BR" sz="1600" dirty="0"/>
              <a:t>modesto.</a:t>
            </a:r>
          </a:p>
        </p:txBody>
      </p:sp>
      <p:sp>
        <p:nvSpPr>
          <p:cNvPr id="8" name="Shape 6"/>
          <p:cNvSpPr/>
          <p:nvPr/>
        </p:nvSpPr>
        <p:spPr>
          <a:xfrm>
            <a:off x="6248243" y="2118122"/>
            <a:ext cx="5333867" cy="1823641"/>
          </a:xfrm>
          <a:prstGeom prst="roundRect">
            <a:avLst>
              <a:gd name="adj" fmla="val 1567"/>
            </a:avLst>
          </a:prstGeom>
          <a:solidFill>
            <a:srgbClr val="F3F4F6"/>
          </a:solidFill>
          <a:ln/>
        </p:spPr>
      </p:sp>
      <p:sp>
        <p:nvSpPr>
          <p:cNvPr id="9" name="Text 7"/>
          <p:cNvSpPr/>
          <p:nvPr/>
        </p:nvSpPr>
        <p:spPr>
          <a:xfrm>
            <a:off x="6476837" y="2346722"/>
            <a:ext cx="510527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24" dirty="0">
                <a:solidFill>
                  <a:srgbClr val="262A31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ACESSIBILIDADE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76837" y="2646363"/>
            <a:ext cx="487667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262A31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Uso acessível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76837" y="3160713"/>
            <a:ext cx="487667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262A31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Contraste WCAG AA, toque de 48dp e rótulos para leitor de tela.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9584" y="4246563"/>
            <a:ext cx="5333867" cy="1823641"/>
          </a:xfrm>
          <a:prstGeom prst="roundRect">
            <a:avLst>
              <a:gd name="adj" fmla="val 1567"/>
            </a:avLst>
          </a:prstGeom>
          <a:solidFill>
            <a:srgbClr val="F3F4F6"/>
          </a:solidFill>
          <a:ln/>
        </p:spPr>
      </p:sp>
      <p:sp>
        <p:nvSpPr>
          <p:cNvPr id="13" name="Text 11"/>
          <p:cNvSpPr/>
          <p:nvPr/>
        </p:nvSpPr>
        <p:spPr>
          <a:xfrm>
            <a:off x="838178" y="4475163"/>
            <a:ext cx="510527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24" dirty="0">
                <a:solidFill>
                  <a:srgbClr val="262A31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INTEGRIDADE · MANUTENIBILIDADE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8178" y="4774804"/>
            <a:ext cx="487667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262A31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Dados </a:t>
            </a:r>
            <a:r>
              <a:rPr lang="en-US" sz="2000" dirty="0" err="1">
                <a:solidFill>
                  <a:srgbClr val="262A31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consistentes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8178" y="5289153"/>
            <a:ext cx="487667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pt-BR" sz="1500" dirty="0">
                <a:solidFill>
                  <a:srgbClr val="262A31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Sincronização idempotente, separação por usuário, rastreabilidade e evolução simples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48243" y="4246563"/>
            <a:ext cx="5333867" cy="1823641"/>
          </a:xfrm>
          <a:prstGeom prst="roundRect">
            <a:avLst>
              <a:gd name="adj" fmla="val 1567"/>
            </a:avLst>
          </a:prstGeom>
          <a:solidFill>
            <a:srgbClr val="0D6EFD"/>
          </a:solidFill>
          <a:ln/>
        </p:spPr>
      </p:sp>
      <p:sp>
        <p:nvSpPr>
          <p:cNvPr id="17" name="Text 15"/>
          <p:cNvSpPr/>
          <p:nvPr/>
        </p:nvSpPr>
        <p:spPr>
          <a:xfrm>
            <a:off x="6476837" y="4475163"/>
            <a:ext cx="510527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24" dirty="0">
                <a:solidFill>
                  <a:srgbClr val="FFFFFF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SEGURANÇA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76837" y="4774804"/>
            <a:ext cx="487667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Dados protegidos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76837" y="5289153"/>
            <a:ext cx="487667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Senha protegida, chaves fora do código e separação de dados por usuário.</a:t>
            </a:r>
            <a:endParaRPr lang="en-US" sz="1500" dirty="0"/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0BAE7B7A-A3A0-4610-A586-B20A31DCA761}"/>
              </a:ext>
            </a:extLst>
          </p:cNvPr>
          <p:cNvSpPr/>
          <p:nvPr/>
        </p:nvSpPr>
        <p:spPr>
          <a:xfrm>
            <a:off x="609890" y="1442641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pt-BR" sz="1200" kern="0" spc="24" dirty="0">
                <a:solidFill>
                  <a:srgbClr val="5B616B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Além das funções, o sistema deve ser utilizável, seguro, resiliente e mensurável.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>
            <a:extLst>
              <a:ext uri="{FF2B5EF4-FFF2-40B4-BE49-F238E27FC236}">
                <a16:creationId xmlns:a16="http://schemas.microsoft.com/office/drawing/2014/main" id="{9270137F-6811-43F7-9667-04AE1B0753E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24" dirty="0">
                <a:solidFill>
                  <a:srgbClr val="5B616B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REGRAS DE NEGÓCIO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09241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200" kern="0" spc="-64" dirty="0">
                <a:solidFill>
                  <a:srgbClr val="0F1115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Regras que podem ser verificadas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5" y="1742281"/>
            <a:ext cx="479711" cy="381000"/>
          </a:xfrm>
          <a:prstGeom prst="roundRect">
            <a:avLst>
              <a:gd name="adj" fmla="val 15000"/>
            </a:avLst>
          </a:prstGeom>
          <a:solidFill>
            <a:srgbClr val="CED8FD"/>
          </a:solidFill>
          <a:ln/>
        </p:spPr>
      </p:sp>
      <p:sp>
        <p:nvSpPr>
          <p:cNvPr id="5" name="Text 3"/>
          <p:cNvSpPr/>
          <p:nvPr/>
        </p:nvSpPr>
        <p:spPr>
          <a:xfrm>
            <a:off x="704832" y="1789906"/>
            <a:ext cx="8988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50" dirty="0">
                <a:solidFill>
                  <a:srgbClr val="262A31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292490" y="1777206"/>
            <a:ext cx="1028962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F1115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Estado derivado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92490" y="2291556"/>
            <a:ext cx="1028962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262A31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 estado vem do último evento; não é duplicado em um campo separado.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9585" y="2906911"/>
            <a:ext cx="499157" cy="381000"/>
          </a:xfrm>
          <a:prstGeom prst="roundRect">
            <a:avLst>
              <a:gd name="adj" fmla="val 15000"/>
            </a:avLst>
          </a:prstGeom>
          <a:solidFill>
            <a:srgbClr val="CED8FD"/>
          </a:solidFill>
          <a:ln/>
        </p:spPr>
      </p:sp>
      <p:sp>
        <p:nvSpPr>
          <p:cNvPr id="9" name="Text 7"/>
          <p:cNvSpPr/>
          <p:nvPr/>
        </p:nvSpPr>
        <p:spPr>
          <a:xfrm>
            <a:off x="704832" y="2954536"/>
            <a:ext cx="91824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50" dirty="0">
                <a:solidFill>
                  <a:srgbClr val="262A31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02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311937" y="2941836"/>
            <a:ext cx="1027017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F1115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Estagnação possível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11937" y="3456186"/>
            <a:ext cx="10270174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262A31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Uma compra parada há 15 dias em trânsito pode ser marcada como estagnada.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9585" y="4071541"/>
            <a:ext cx="500248" cy="381000"/>
          </a:xfrm>
          <a:prstGeom prst="roundRect">
            <a:avLst>
              <a:gd name="adj" fmla="val 15000"/>
            </a:avLst>
          </a:prstGeom>
          <a:solidFill>
            <a:srgbClr val="CED8FD"/>
          </a:solidFill>
          <a:ln/>
        </p:spPr>
      </p:sp>
      <p:sp>
        <p:nvSpPr>
          <p:cNvPr id="13" name="Text 11"/>
          <p:cNvSpPr/>
          <p:nvPr/>
        </p:nvSpPr>
        <p:spPr>
          <a:xfrm>
            <a:off x="704832" y="4119166"/>
            <a:ext cx="91933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50" dirty="0">
                <a:solidFill>
                  <a:srgbClr val="262A31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03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313028" y="4106466"/>
            <a:ext cx="1026908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F1115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Sincronização idempotente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13028" y="4620816"/>
            <a:ext cx="1026908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262A31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 mesmo evento sincronizado três vezes continua aparecendo uma só vez.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09585" y="5236170"/>
            <a:ext cx="515131" cy="381000"/>
          </a:xfrm>
          <a:prstGeom prst="roundRect">
            <a:avLst>
              <a:gd name="adj" fmla="val 15000"/>
            </a:avLst>
          </a:prstGeom>
          <a:solidFill>
            <a:srgbClr val="CED8FD"/>
          </a:solidFill>
          <a:ln/>
        </p:spPr>
      </p:sp>
      <p:sp>
        <p:nvSpPr>
          <p:cNvPr id="17" name="Text 15"/>
          <p:cNvSpPr/>
          <p:nvPr/>
        </p:nvSpPr>
        <p:spPr>
          <a:xfrm>
            <a:off x="704832" y="5283795"/>
            <a:ext cx="93422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50" dirty="0">
                <a:solidFill>
                  <a:srgbClr val="262A31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04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327911" y="5271095"/>
            <a:ext cx="102542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F1115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Cotação definida pelo projeto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327911" y="5785445"/>
            <a:ext cx="1025420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262A31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 cotação usada deve seguir a decisão definida para o projeto.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09585" y="2748161"/>
            <a:ext cx="10972526" cy="12700"/>
          </a:xfrm>
          <a:prstGeom prst="rect">
            <a:avLst/>
          </a:prstGeom>
          <a:solidFill>
            <a:srgbClr val="D9DCE1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585" y="3912791"/>
            <a:ext cx="10972526" cy="12700"/>
          </a:xfrm>
          <a:prstGeom prst="rect">
            <a:avLst/>
          </a:prstGeom>
          <a:solidFill>
            <a:srgbClr val="D9DCE1"/>
          </a:solidFill>
          <a:ln/>
        </p:spPr>
      </p:sp>
      <p:sp>
        <p:nvSpPr>
          <p:cNvPr id="22" name="Shape 20"/>
          <p:cNvSpPr/>
          <p:nvPr/>
        </p:nvSpPr>
        <p:spPr>
          <a:xfrm>
            <a:off x="609585" y="5077420"/>
            <a:ext cx="10972526" cy="12700"/>
          </a:xfrm>
          <a:prstGeom prst="rect">
            <a:avLst/>
          </a:prstGeom>
          <a:solidFill>
            <a:srgbClr val="D9DCE1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4AA91E36-0244-4192-97B2-018DD181F6F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24" dirty="0">
                <a:solidFill>
                  <a:srgbClr val="5B616B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MODELAGEM DE DADOS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09241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200" kern="0" spc="-64" dirty="0">
                <a:solidFill>
                  <a:srgbClr val="0F1115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Compras conectam o usuário ao histórico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589881"/>
            <a:ext cx="1158211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262A31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 modelo relaciona usuários, lojas, compras, eventos de rastreio, cotações e notificações.</a:t>
            </a:r>
            <a:endParaRPr lang="en-US" sz="1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094706"/>
            <a:ext cx="7224631" cy="406390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tângulo 29">
            <a:extLst>
              <a:ext uri="{FF2B5EF4-FFF2-40B4-BE49-F238E27FC236}">
                <a16:creationId xmlns:a16="http://schemas.microsoft.com/office/drawing/2014/main" id="{AC4B3CCD-78CA-4BFA-9EEB-C1FDB70301F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Seta: Divisa 27">
            <a:extLst>
              <a:ext uri="{FF2B5EF4-FFF2-40B4-BE49-F238E27FC236}">
                <a16:creationId xmlns:a16="http://schemas.microsoft.com/office/drawing/2014/main" id="{07333F59-F663-447C-9EF2-3CF060E3D447}"/>
              </a:ext>
            </a:extLst>
          </p:cNvPr>
          <p:cNvSpPr/>
          <p:nvPr/>
        </p:nvSpPr>
        <p:spPr>
          <a:xfrm>
            <a:off x="6095849" y="1595437"/>
            <a:ext cx="2743130" cy="762000"/>
          </a:xfrm>
          <a:prstGeom prst="chevron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9" name="Seta: Divisa 28">
            <a:extLst>
              <a:ext uri="{FF2B5EF4-FFF2-40B4-BE49-F238E27FC236}">
                <a16:creationId xmlns:a16="http://schemas.microsoft.com/office/drawing/2014/main" id="{5558655D-45D9-4E93-B049-3AD0A89CAD33}"/>
              </a:ext>
            </a:extLst>
          </p:cNvPr>
          <p:cNvSpPr/>
          <p:nvPr/>
        </p:nvSpPr>
        <p:spPr>
          <a:xfrm>
            <a:off x="8876587" y="1584325"/>
            <a:ext cx="2743130" cy="762000"/>
          </a:xfrm>
          <a:prstGeom prst="chevron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7" name="Seta: Divisa 26">
            <a:extLst>
              <a:ext uri="{FF2B5EF4-FFF2-40B4-BE49-F238E27FC236}">
                <a16:creationId xmlns:a16="http://schemas.microsoft.com/office/drawing/2014/main" id="{3B8FF42E-1655-47C9-A8DA-F8F6B050F9E0}"/>
              </a:ext>
            </a:extLst>
          </p:cNvPr>
          <p:cNvSpPr/>
          <p:nvPr/>
        </p:nvSpPr>
        <p:spPr>
          <a:xfrm>
            <a:off x="3344282" y="1615281"/>
            <a:ext cx="2743130" cy="762000"/>
          </a:xfrm>
          <a:prstGeom prst="chevron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6" name="Seta: Divisa 25">
            <a:extLst>
              <a:ext uri="{FF2B5EF4-FFF2-40B4-BE49-F238E27FC236}">
                <a16:creationId xmlns:a16="http://schemas.microsoft.com/office/drawing/2014/main" id="{714BA9D7-8E45-4650-A117-ED3672D9B21C}"/>
              </a:ext>
            </a:extLst>
          </p:cNvPr>
          <p:cNvSpPr/>
          <p:nvPr/>
        </p:nvSpPr>
        <p:spPr>
          <a:xfrm>
            <a:off x="609585" y="1589881"/>
            <a:ext cx="2743130" cy="762000"/>
          </a:xfrm>
          <a:prstGeom prst="chevron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24" dirty="0">
                <a:solidFill>
                  <a:srgbClr val="5B616B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ARQUITETURA · EM DEFINIÇÃO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09241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200" kern="0" spc="-64" dirty="0">
                <a:solidFill>
                  <a:srgbClr val="0F1115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Camadas separadas; tecnologias ainda em avaliação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915965" y="1828006"/>
            <a:ext cx="73995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50" dirty="0">
                <a:solidFill>
                  <a:srgbClr val="262A31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1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800080" y="2453481"/>
            <a:ext cx="2362141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F1115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Apresentação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00080" y="2967831"/>
            <a:ext cx="2552636" cy="539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pt-BR" sz="1600" dirty="0"/>
              <a:t>Fluxos e experiência</a:t>
            </a:r>
          </a:p>
          <a:p>
            <a:r>
              <a:rPr lang="pt-BR" sz="1600" dirty="0"/>
              <a:t> móvel.</a:t>
            </a:r>
          </a:p>
        </p:txBody>
      </p:sp>
      <p:sp>
        <p:nvSpPr>
          <p:cNvPr id="11" name="Text 9"/>
          <p:cNvSpPr/>
          <p:nvPr/>
        </p:nvSpPr>
        <p:spPr>
          <a:xfrm>
            <a:off x="4651060" y="1828006"/>
            <a:ext cx="75592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50" dirty="0">
                <a:solidFill>
                  <a:srgbClr val="262A31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2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3543211" y="2453481"/>
            <a:ext cx="2362141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 err="1">
                <a:solidFill>
                  <a:srgbClr val="0F1115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Negócio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43211" y="2967831"/>
            <a:ext cx="2362141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pt-BR" sz="1600" dirty="0"/>
              <a:t>Regras, estados, alertas e indicadores.</a:t>
            </a:r>
          </a:p>
        </p:txBody>
      </p:sp>
      <p:sp>
        <p:nvSpPr>
          <p:cNvPr id="16" name="Text 14"/>
          <p:cNvSpPr/>
          <p:nvPr/>
        </p:nvSpPr>
        <p:spPr>
          <a:xfrm>
            <a:off x="7393795" y="1828006"/>
            <a:ext cx="75682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50" dirty="0">
                <a:solidFill>
                  <a:srgbClr val="262A31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3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6286343" y="2453481"/>
            <a:ext cx="2362141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F1115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Persistência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286343" y="2967831"/>
            <a:ext cx="2552636" cy="644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pt-BR" sz="1600" dirty="0"/>
              <a:t>Dados locais e remotos </a:t>
            </a:r>
          </a:p>
          <a:p>
            <a:r>
              <a:rPr lang="pt-BR" sz="1600" dirty="0"/>
              <a:t>para offline.</a:t>
            </a:r>
          </a:p>
        </p:txBody>
      </p:sp>
      <p:sp>
        <p:nvSpPr>
          <p:cNvPr id="21" name="Text 19"/>
          <p:cNvSpPr/>
          <p:nvPr/>
        </p:nvSpPr>
        <p:spPr>
          <a:xfrm>
            <a:off x="10130874" y="1828006"/>
            <a:ext cx="76882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50" dirty="0">
                <a:solidFill>
                  <a:srgbClr val="262A31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4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9029474" y="2453481"/>
            <a:ext cx="2362141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 err="1">
                <a:solidFill>
                  <a:srgbClr val="0F1115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Integração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029474" y="2967831"/>
            <a:ext cx="2552636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pt-BR" sz="1600" dirty="0"/>
              <a:t>Sincronização e API externa.</a:t>
            </a:r>
          </a:p>
        </p:txBody>
      </p:sp>
      <p:sp>
        <p:nvSpPr>
          <p:cNvPr id="24" name="Text 22"/>
          <p:cNvSpPr/>
          <p:nvPr/>
        </p:nvSpPr>
        <p:spPr>
          <a:xfrm>
            <a:off x="609585" y="3939381"/>
            <a:ext cx="5333867" cy="1125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b="1" dirty="0" err="1">
                <a:solidFill>
                  <a:srgbClr val="262A31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Justificativa</a:t>
            </a:r>
            <a:r>
              <a:rPr lang="en-US" sz="1500" b="1" dirty="0">
                <a:solidFill>
                  <a:srgbClr val="262A31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 :</a:t>
            </a:r>
            <a:r>
              <a:rPr lang="en-US" sz="1500" dirty="0">
                <a:solidFill>
                  <a:srgbClr val="262A31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</a:t>
            </a:r>
          </a:p>
          <a:p>
            <a:pPr marL="0" indent="0" algn="l">
              <a:lnSpc>
                <a:spcPct val="121000"/>
              </a:lnSpc>
              <a:buNone/>
            </a:pPr>
            <a:r>
              <a:rPr lang="pt-BR" sz="1500" dirty="0">
                <a:solidFill>
                  <a:srgbClr val="262A31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 pilha deve atender offline, sincronização idempotente, segurança, acessibilidade, desempenho e manutenção.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248244" y="3939380"/>
            <a:ext cx="5333867" cy="838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b="1" dirty="0" err="1">
                <a:solidFill>
                  <a:srgbClr val="262A31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Critério</a:t>
            </a:r>
            <a:r>
              <a:rPr lang="en-US" sz="1500" b="1" dirty="0">
                <a:solidFill>
                  <a:srgbClr val="262A31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:</a:t>
            </a:r>
            <a:r>
              <a:rPr lang="en-US" sz="1500" dirty="0">
                <a:solidFill>
                  <a:srgbClr val="262A31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</a:t>
            </a:r>
          </a:p>
          <a:p>
            <a:pPr marL="0" indent="0" algn="l">
              <a:lnSpc>
                <a:spcPct val="121000"/>
              </a:lnSpc>
              <a:buNone/>
            </a:pPr>
            <a:r>
              <a:rPr lang="pt-BR" sz="1500" dirty="0">
                <a:solidFill>
                  <a:srgbClr val="262A31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comparar opções pelos requisitos e registrar a decisão; nenhuma tecnologia está definida nos materiais.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ângulo 21">
            <a:extLst>
              <a:ext uri="{FF2B5EF4-FFF2-40B4-BE49-F238E27FC236}">
                <a16:creationId xmlns:a16="http://schemas.microsoft.com/office/drawing/2014/main" id="{8871EBB4-D530-435A-B718-B0BF1D3E4A53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24" dirty="0">
                <a:solidFill>
                  <a:srgbClr val="5B616B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PROTÓTIPO · DESENVOLVIMENTO · ORGANIZAÇÃO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09241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200" kern="0" spc="-64" dirty="0">
                <a:solidFill>
                  <a:srgbClr val="0F1115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Progresso visível, implementação parcial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5" y="1589881"/>
            <a:ext cx="3454314" cy="244544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914377" y="1894681"/>
            <a:ext cx="2844729" cy="896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7200" b="1" kern="0" spc="-288" dirty="0">
                <a:solidFill>
                  <a:srgbClr val="262A31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11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914377" y="2939951"/>
            <a:ext cx="2844729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262A31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Telas principais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377" y="3454301"/>
            <a:ext cx="3149521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262A31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Protótipo navegável.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68691" y="1589881"/>
            <a:ext cx="3454314" cy="244544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9" name="Text 7"/>
          <p:cNvSpPr/>
          <p:nvPr/>
        </p:nvSpPr>
        <p:spPr>
          <a:xfrm>
            <a:off x="4597285" y="1818481"/>
            <a:ext cx="299712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262A31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Em validação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97285" y="2332831"/>
            <a:ext cx="2997125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262A31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Aplicação parcial já em desenvolvimento para validar o fluxo.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27797" y="1589881"/>
            <a:ext cx="3454314" cy="244544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2" name="Text 10"/>
          <p:cNvSpPr/>
          <p:nvPr/>
        </p:nvSpPr>
        <p:spPr>
          <a:xfrm>
            <a:off x="8356391" y="1818481"/>
            <a:ext cx="299712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262A31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Git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356391" y="2332831"/>
            <a:ext cx="2997125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262A31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Repositório organizado, commits descritivos e integração por PR revisado.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09585" y="4311551"/>
            <a:ext cx="10972526" cy="38100"/>
          </a:xfrm>
          <a:prstGeom prst="roundRect">
            <a:avLst>
              <a:gd name="adj" fmla="val 49999"/>
            </a:avLst>
          </a:prstGeom>
          <a:solidFill>
            <a:srgbClr val="0D6EFD"/>
          </a:solidFill>
          <a:ln/>
        </p:spPr>
      </p:sp>
      <p:sp>
        <p:nvSpPr>
          <p:cNvPr id="15" name="Text 13"/>
          <p:cNvSpPr/>
          <p:nvPr/>
        </p:nvSpPr>
        <p:spPr>
          <a:xfrm>
            <a:off x="609585" y="4625876"/>
            <a:ext cx="3352716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24" dirty="0">
                <a:solidFill>
                  <a:srgbClr val="5B616B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BACKLOG PRIORIZADO · ESTADO ATUAL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67093" y="4625876"/>
            <a:ext cx="2179285" cy="696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5600" b="1" kern="0" spc="-224" dirty="0">
                <a:solidFill>
                  <a:srgbClr val="0F1115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7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4267093" y="5576788"/>
            <a:ext cx="217928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262A31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épicos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51072" y="4625876"/>
            <a:ext cx="2179385" cy="696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5600" b="1" kern="0" spc="-224" dirty="0">
                <a:solidFill>
                  <a:srgbClr val="0F1115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33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6751072" y="5576788"/>
            <a:ext cx="217938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262A31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histórias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235149" y="4625876"/>
            <a:ext cx="2346961" cy="696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5600" b="1" kern="0" spc="-224" dirty="0">
                <a:solidFill>
                  <a:srgbClr val="0F1115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148</a:t>
            </a:r>
            <a:endParaRPr lang="en-US" sz="5600" dirty="0"/>
          </a:p>
        </p:txBody>
      </p:sp>
      <p:sp>
        <p:nvSpPr>
          <p:cNvPr id="21" name="Text 19"/>
          <p:cNvSpPr/>
          <p:nvPr/>
        </p:nvSpPr>
        <p:spPr>
          <a:xfrm>
            <a:off x="9235149" y="5576788"/>
            <a:ext cx="2346961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262A31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pontos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>
            <a:extLst>
              <a:ext uri="{FF2B5EF4-FFF2-40B4-BE49-F238E27FC236}">
                <a16:creationId xmlns:a16="http://schemas.microsoft.com/office/drawing/2014/main" id="{B7C00001-EF7C-4744-BE7C-FBEA1CF6338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24" dirty="0">
                <a:solidFill>
                  <a:srgbClr val="5B616B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PROTÓTIPO · DESENVOLVIMENTO · ORGANIZAÇÃO</a:t>
            </a:r>
            <a:endParaRPr lang="en-US" sz="12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3F622E9-9215-4214-81C9-1A3A511B29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341" y="1040173"/>
            <a:ext cx="5339810" cy="539510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1C885F87-09FC-4EA8-A389-FC513309B4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8745" y="1047469"/>
            <a:ext cx="5082980" cy="5387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515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>
            <a:extLst>
              <a:ext uri="{FF2B5EF4-FFF2-40B4-BE49-F238E27FC236}">
                <a16:creationId xmlns:a16="http://schemas.microsoft.com/office/drawing/2014/main" id="{B7C00001-EF7C-4744-BE7C-FBEA1CF6338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24" dirty="0">
                <a:solidFill>
                  <a:srgbClr val="5B616B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PROTÓTIPO · DESENVOLVIMENTO · ORGANIZAÇÃO</a:t>
            </a:r>
            <a:endParaRPr lang="en-US" sz="12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5734F18-24AA-4892-A5D1-05953CD0D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430" y="849332"/>
            <a:ext cx="5204911" cy="567881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1C029BA-4EDE-4FDD-87AC-4BC4A8798D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640" y="849332"/>
            <a:ext cx="5204911" cy="5677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3673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>
            <a:extLst>
              <a:ext uri="{FF2B5EF4-FFF2-40B4-BE49-F238E27FC236}">
                <a16:creationId xmlns:a16="http://schemas.microsoft.com/office/drawing/2014/main" id="{B7C00001-EF7C-4744-BE7C-FBEA1CF6338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24" dirty="0">
                <a:solidFill>
                  <a:srgbClr val="5B616B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PROTÓTIPO · DESENVOLVIMENTO · ORGANIZAÇÃO</a:t>
            </a:r>
            <a:endParaRPr lang="en-US" sz="12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6F25DF7-4C94-4F3A-A5A6-59749E12FF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007" y="971350"/>
            <a:ext cx="10439985" cy="5778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3389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BE1C3B1C-B3B9-4F32-A3DF-2802A76022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ext 0"/>
          <p:cNvSpPr/>
          <p:nvPr/>
        </p:nvSpPr>
        <p:spPr>
          <a:xfrm>
            <a:off x="609585" y="4892675"/>
            <a:ext cx="9143771" cy="896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7200" b="1" kern="0" spc="-216" dirty="0" err="1">
                <a:solidFill>
                  <a:srgbClr val="0070C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Obrigado</a:t>
            </a:r>
            <a:r>
              <a:rPr lang="en-US" sz="7200" b="1" kern="0" spc="-216" dirty="0">
                <a:solidFill>
                  <a:srgbClr val="0070C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!!</a:t>
            </a:r>
            <a:endParaRPr lang="en-US" sz="7200" dirty="0">
              <a:solidFill>
                <a:srgbClr val="0070C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09585" y="6042720"/>
            <a:ext cx="1158211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 err="1">
                <a:solidFill>
                  <a:srgbClr val="0070C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Alunos</a:t>
            </a:r>
            <a:r>
              <a:rPr lang="en-US" sz="1200" dirty="0">
                <a:solidFill>
                  <a:srgbClr val="0070C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: </a:t>
            </a:r>
            <a:r>
              <a:rPr lang="en-US" sz="1200" dirty="0" err="1">
                <a:solidFill>
                  <a:srgbClr val="0070C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Diogo</a:t>
            </a:r>
            <a:r>
              <a:rPr lang="en-US" sz="1200" dirty="0">
                <a:solidFill>
                  <a:srgbClr val="0070C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Oliveira, Alex sander, </a:t>
            </a:r>
            <a:r>
              <a:rPr lang="en-US" sz="1200" dirty="0" err="1">
                <a:solidFill>
                  <a:srgbClr val="0070C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Higor</a:t>
            </a:r>
            <a:r>
              <a:rPr lang="en-US" sz="1200" dirty="0">
                <a:solidFill>
                  <a:srgbClr val="0070C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Paulo.</a:t>
            </a:r>
            <a:endParaRPr lang="en-US" sz="1200" dirty="0">
              <a:solidFill>
                <a:srgbClr val="0070C0"/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D92FA6C-97B7-4F77-9079-82EB009769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1412" y="0"/>
            <a:ext cx="4518212" cy="4518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435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713</Words>
  <Application>Microsoft Office PowerPoint</Application>
  <PresentationFormat>Widescreen</PresentationFormat>
  <Paragraphs>147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4" baseType="lpstr">
      <vt:lpstr>Fira Sans Medium</vt:lpstr>
      <vt:lpstr>Arial</vt:lpstr>
      <vt:lpstr>Mona Sans SemiBold</vt:lpstr>
      <vt:lpstr>Mona Sans Bold</vt:lpstr>
      <vt:lpstr>Calibri</vt:lpstr>
      <vt:lpstr>Fira Sans Bold</vt:lpstr>
      <vt:lpstr>Fira Sans</vt:lpstr>
      <vt:lpstr>Fira Sans SemiBold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lastModifiedBy>Douglas Oliveira Almeida</cp:lastModifiedBy>
  <cp:revision>7</cp:revision>
  <dcterms:created xsi:type="dcterms:W3CDTF">2026-09-28T17:20:16Z</dcterms:created>
  <dcterms:modified xsi:type="dcterms:W3CDTF">2026-09-29T19:42:08Z</dcterms:modified>
</cp:coreProperties>
</file>